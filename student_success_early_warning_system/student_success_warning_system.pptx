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2" d="100"/>
          <a:sy n="62" d="100"/>
        </p:scale>
        <p:origin x="736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1234440"/>
            <a:ext cx="106984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Aptos"/>
              </a:defRPr>
            </a:pPr>
            <a:r>
              <a:rPr lang="en-IN" dirty="0" smtClean="0"/>
              <a:t>Student Success Early Warning System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1738388" y="313269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FDBFE"/>
                </a:solidFill>
                <a:latin typeface="Aptos"/>
              </a:defRPr>
            </a:pPr>
            <a:r>
              <a:t>A reproducible machine-learning prototype for academic-support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66360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ptos"/>
              </a:defRPr>
            </a:pPr>
            <a:r>
              <a:rPr lang="en-GB" dirty="0" smtClean="0"/>
              <a:t>Bharat Salunke</a:t>
            </a:r>
          </a:p>
          <a:p>
            <a:pPr algn="l">
              <a:defRPr sz="1800" b="1">
                <a:solidFill>
                  <a:srgbClr val="FFFFFF"/>
                </a:solidFill>
                <a:latin typeface="Aptos"/>
              </a:defRPr>
            </a:pP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731520" y="5596128"/>
            <a:ext cx="4572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Aptos"/>
              </a:defRPr>
            </a:pPr>
            <a:r>
              <a:rPr lang="en-GB" dirty="0" smtClean="0"/>
              <a:t> IBM </a:t>
            </a:r>
            <a:r>
              <a:rPr lang="en-GB" dirty="0" err="1" smtClean="0"/>
              <a:t>Skillbuild</a:t>
            </a:r>
            <a:r>
              <a:rPr lang="en-GB" dirty="0" smtClean="0"/>
              <a:t> </a:t>
            </a:r>
            <a:r>
              <a:rPr dirty="0" smtClean="0"/>
              <a:t>Applied </a:t>
            </a:r>
            <a:r>
              <a:rPr dirty="0"/>
              <a:t>AI Internship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75569"/>
                </a:solidFill>
                <a:latin typeface="Aptos"/>
              </a:defRPr>
            </a:pPr>
            <a:r>
              <a:t>Khizar Nawaz  |  Applied AI Internship  |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65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ptos"/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75569"/>
                </a:solidFill>
                <a:latin typeface="Aptos"/>
              </a:defRPr>
            </a:pPr>
            <a:r>
              <a:t>Turning multiple student factors into a clear support conversation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F172A"/>
                </a:solidFill>
                <a:latin typeface="Aptos"/>
              </a:defRPr>
            </a:pPr>
            <a:r>
              <a:t>• Academic performance is influenced by learning, support, attendance, and social context.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40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F172A"/>
                </a:solidFill>
                <a:latin typeface="Aptos"/>
              </a:defRPr>
            </a:pPr>
            <a:r>
              <a:rPr dirty="0"/>
              <a:t>• Manual review may not combine many signals consistently.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F172A"/>
                </a:solidFill>
                <a:latin typeface="Aptos"/>
              </a:defRPr>
            </a:pPr>
            <a:r>
              <a:t>• Early estimates can help educators discuss possible additional support.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118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F172A"/>
                </a:solidFill>
                <a:latin typeface="Aptos"/>
              </a:defRPr>
            </a:pPr>
            <a:r>
              <a:t>• Machine learning can identify historical patterns — not make definitive judgments.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691640"/>
            <a:ext cx="3749039" cy="33375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607808" y="1856232"/>
            <a:ext cx="334670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563EB"/>
                </a:solidFill>
                <a:latin typeface="Aptos"/>
              </a:defRPr>
            </a:pPr>
            <a:r>
              <a:t>Project boundary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07808" y="2286000"/>
            <a:ext cx="3346703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75569"/>
                </a:solidFill>
                <a:latin typeface="Aptos"/>
              </a:defRPr>
            </a:pPr>
            <a:r>
              <a:t>Educational prototype</a:t>
            </a:r>
            <a:br/>
            <a:r>
              <a:t/>
            </a:r>
            <a:br/>
            <a:r>
              <a:t>Not a clinical or psychological diagnosis.</a:t>
            </a:r>
            <a:br/>
            <a:r>
              <a:t/>
            </a:r>
            <a:br/>
            <a:r>
              <a:t>Does not replace teachers or guarantee outcomes.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65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ptos"/>
              </a:defRPr>
            </a:pPr>
            <a:r>
              <a:t>Proposed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75569"/>
                </a:solidFill>
                <a:latin typeface="Aptos"/>
              </a:defRPr>
            </a:pPr>
            <a:r>
              <a:t>An end-to-end local machine-learning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560320"/>
            <a:ext cx="141732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76072" y="2779776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Student</a:t>
            </a:r>
            <a:br/>
            <a:r>
              <a:t>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5960" y="278892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4B8A6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23160" y="2560320"/>
            <a:ext cx="141732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496312" y="2779776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Aptos"/>
              </a:defRPr>
            </a:pPr>
            <a:r>
              <a:t>Preprocess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278892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4B8A6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560320"/>
            <a:ext cx="141732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16552" y="2779776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Aptos"/>
              </a:defRPr>
            </a:pPr>
            <a:r>
              <a:t>Regression</a:t>
            </a:r>
            <a:br/>
            <a:r>
              <a:t>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78892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4B8A6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560320"/>
            <a:ext cx="141732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36792" y="2779776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Aptos"/>
              </a:defRPr>
            </a:pPr>
            <a: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80" y="278892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4B8A6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2560320"/>
            <a:ext cx="141732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7032" y="2779776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Aptos"/>
              </a:defRPr>
            </a:pPr>
            <a:r>
              <a:t>Best</a:t>
            </a:r>
            <a:br/>
            <a:r>
              <a:t>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20" y="278892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4B8A6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04120" y="2560320"/>
            <a:ext cx="141732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77272" y="2779776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Streamlit</a:t>
            </a:r>
            <a:br/>
            <a:r>
              <a:t>Prediction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25196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0">
                <a:solidFill>
                  <a:srgbClr val="475569"/>
                </a:solidFill>
                <a:latin typeface="Aptos"/>
              </a:defRPr>
            </a:pPr>
            <a:r>
              <a:t>Output: predicted final grade / 20  •  performance category  •  academic-support indicator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65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ptos"/>
              </a:defRPr>
            </a:pPr>
            <a:r>
              <a:t>Dataset &amp;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75569"/>
                </a:solidFill>
                <a:latin typeface="Aptos"/>
              </a:defRPr>
            </a:pPr>
            <a:r>
              <a:t>Official UCI Student Performance Dataset — Mathematics subset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3291840" cy="3566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32688" y="1581912"/>
            <a:ext cx="28895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563EB"/>
                </a:solidFill>
                <a:latin typeface="Aptos"/>
              </a:defRPr>
            </a:pPr>
            <a:r>
              <a:t>Dataset facts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11680"/>
            <a:ext cx="2889504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75569"/>
                </a:solidFill>
                <a:latin typeface="Aptos"/>
              </a:defRPr>
            </a:pPr>
            <a:r>
              <a:t>395 student records</a:t>
            </a:r>
            <a:br/>
            <a:r>
              <a:t>33 columns</a:t>
            </a:r>
            <a:br/>
            <a:r>
              <a:t>Target: G3 final grade</a:t>
            </a:r>
            <a:br/>
            <a:r>
              <a:t>Grade scale: 0–20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417320"/>
            <a:ext cx="3291840" cy="3566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36007" y="1581912"/>
            <a:ext cx="28895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563EB"/>
                </a:solidFill>
                <a:latin typeface="Aptos"/>
              </a:defRPr>
            </a:pPr>
            <a:r>
              <a:t>Feature groups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6007" y="2011680"/>
            <a:ext cx="2889504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75569"/>
                </a:solidFill>
                <a:latin typeface="Aptos"/>
              </a:defRPr>
            </a:pPr>
            <a:r>
              <a:t>Demographics</a:t>
            </a:r>
            <a:br/>
            <a:r>
              <a:t>Family &amp; school support</a:t>
            </a:r>
            <a:br/>
            <a:r>
              <a:t>Study behaviour</a:t>
            </a:r>
            <a:br/>
            <a:r>
              <a:t>Attendance</a:t>
            </a:r>
            <a:br/>
            <a:r>
              <a:t>Prior-term grades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417320"/>
            <a:ext cx="3291840" cy="3566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39328" y="1581912"/>
            <a:ext cx="28895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563EB"/>
                </a:solidFill>
                <a:latin typeface="Aptos"/>
              </a:defRPr>
            </a:pPr>
            <a:r>
              <a:t>Timing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2011680"/>
            <a:ext cx="2889504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75569"/>
                </a:solidFill>
                <a:latin typeface="Aptos"/>
              </a:defRPr>
            </a:pPr>
            <a:r>
              <a:t>G1 and G2 are valid when prior-term grades exist.</a:t>
            </a:r>
            <a:br/>
            <a:r>
              <a:t/>
            </a:r>
            <a:br/>
            <a:r>
              <a:t>A second scenario excludes them for earlier prediction.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3949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Aptos"/>
              </a:defRPr>
            </a:pPr>
            <a:r>
              <a:t>Source: UCI Machine Learning Repository, Student Performance dataset (dataset id 320).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65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ptos"/>
              </a:defRPr>
            </a:pPr>
            <a:r>
              <a:t>Model Comparison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75569"/>
                </a:solidFill>
                <a:latin typeface="Aptos"/>
              </a:defRPr>
            </a:pPr>
            <a:r>
              <a:t>Actual metrics from the fixed 80/20 holdout split (random_state = 42)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17320"/>
          <a:ext cx="6400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MAE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R2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Gradient 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1.128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1.922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0.820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1.215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2.026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0.800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Extra Trees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1.390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2.297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0.743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Linear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1.647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2.378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0.724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508760"/>
            <a:ext cx="3566160" cy="2423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82128" y="1673351"/>
            <a:ext cx="31638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563EB"/>
                </a:solidFill>
                <a:latin typeface="Aptos"/>
              </a:defRPr>
            </a:pPr>
            <a:r>
              <a:t>Selected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82128" y="2103120"/>
            <a:ext cx="3163824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75569"/>
                </a:solidFill>
                <a:latin typeface="Aptos"/>
              </a:defRPr>
            </a:pPr>
            <a:r>
              <a:t>Gradient Boosting</a:t>
            </a:r>
            <a:br/>
            <a:r>
              <a:t/>
            </a:r>
            <a:br/>
            <a:r>
              <a:t>MAE: 1.128</a:t>
            </a:r>
            <a:br/>
            <a:r>
              <a:t>RMSE: 1.922</a:t>
            </a:r>
            <a:br/>
            <a:r>
              <a:t>R²: 0.820</a:t>
            </a:r>
          </a:p>
        </p:txBody>
      </p:sp>
      <p:pic>
        <p:nvPicPr>
          <p:cNvPr id="8" name="Picture 7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4069080"/>
            <a:ext cx="3840480" cy="21602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65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ptos"/>
              </a:defRPr>
            </a:pPr>
            <a:r>
              <a:t>End-to-End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75569"/>
                </a:solidFill>
                <a:latin typeface="Aptos"/>
              </a:defRPr>
            </a:pPr>
            <a:r>
              <a:t>Reproducible and leakage-safe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1234440"/>
            <a:ext cx="411480" cy="365760"/>
          </a:xfrm>
          <a:prstGeom prst="rect">
            <a:avLst/>
          </a:prstGeom>
          <a:solidFill>
            <a:srgbClr val="2563EB"/>
          </a:solidFill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2344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F172A"/>
                </a:solidFill>
                <a:latin typeface="Aptos"/>
              </a:defRPr>
            </a:pPr>
            <a:r>
              <a:t>Load UCI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591056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4B8A6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856232"/>
            <a:ext cx="411480" cy="365760"/>
          </a:xfrm>
          <a:prstGeom prst="rect">
            <a:avLst/>
          </a:prstGeom>
          <a:solidFill>
            <a:srgbClr val="2563EB"/>
          </a:solidFill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856232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F172A"/>
                </a:solidFill>
                <a:latin typeface="Aptos"/>
              </a:defRPr>
            </a:pPr>
            <a:r>
              <a:t>Check schema, missing values &amp; duplicates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212848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4B8A6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478024"/>
            <a:ext cx="411480" cy="365760"/>
          </a:xfrm>
          <a:prstGeom prst="rect">
            <a:avLst/>
          </a:prstGeom>
          <a:solidFill>
            <a:srgbClr val="2563EB"/>
          </a:solidFill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478024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F172A"/>
                </a:solidFill>
                <a:latin typeface="Aptos"/>
              </a:defRPr>
            </a:pPr>
            <a:r>
              <a:t>Split train/test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34640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4B8A6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099816"/>
            <a:ext cx="411480" cy="365760"/>
          </a:xfrm>
          <a:prstGeom prst="rect">
            <a:avLst/>
          </a:prstGeom>
          <a:solidFill>
            <a:srgbClr val="2563EB"/>
          </a:solidFill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099816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F172A"/>
                </a:solidFill>
                <a:latin typeface="Aptos"/>
              </a:defRPr>
            </a:pPr>
            <a:r>
              <a:t>Encode categories and scale numbers in pipeline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456432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4B8A6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721608"/>
            <a:ext cx="411480" cy="365760"/>
          </a:xfrm>
          <a:prstGeom prst="rect">
            <a:avLst/>
          </a:prstGeom>
          <a:solidFill>
            <a:srgbClr val="2563EB"/>
          </a:solidFill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721608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F172A"/>
                </a:solidFill>
                <a:latin typeface="Aptos"/>
              </a:defRPr>
            </a:pPr>
            <a:r>
              <a:t>Train and compare models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078224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4B8A6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343400"/>
            <a:ext cx="411480" cy="365760"/>
          </a:xfrm>
          <a:prstGeom prst="rect">
            <a:avLst/>
          </a:prstGeom>
          <a:solidFill>
            <a:srgbClr val="2563EB"/>
          </a:solidFill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34340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F172A"/>
                </a:solidFill>
                <a:latin typeface="Aptos"/>
              </a:defRPr>
            </a:pPr>
            <a:r>
              <a:t>Save selected full pipeline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700016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4B8A6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965192"/>
            <a:ext cx="411480" cy="365760"/>
          </a:xfrm>
          <a:prstGeom prst="rect">
            <a:avLst/>
          </a:prstGeom>
          <a:solidFill>
            <a:srgbClr val="2563EB"/>
          </a:solidFill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4965192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F172A"/>
                </a:solidFill>
                <a:latin typeface="Aptos"/>
              </a:defRPr>
            </a:pPr>
            <a:r>
              <a:t>Evaluate, explain and deploy</a:t>
            </a:r>
          </a:p>
        </p:txBody>
      </p:sp>
      <p:pic>
        <p:nvPicPr>
          <p:cNvPr id="24" name="Picture 23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325880"/>
            <a:ext cx="3246120" cy="22317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65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ptos"/>
              </a:defRPr>
            </a:pPr>
            <a:r>
              <a:t>Working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75569"/>
                </a:solidFill>
                <a:latin typeface="Aptos"/>
              </a:defRPr>
            </a:pPr>
            <a:r>
              <a:t>What the Streamlit application demonstrates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02920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32688" y="1536192"/>
            <a:ext cx="46268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563EB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965960"/>
            <a:ext cx="46268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75569"/>
                </a:solidFill>
                <a:latin typeface="Aptos"/>
              </a:defRPr>
            </a:pPr>
            <a:r>
              <a:t>Enter grouped student information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371600"/>
            <a:ext cx="502920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56248" y="1536192"/>
            <a:ext cx="46268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563E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6248" y="1965960"/>
            <a:ext cx="46268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75569"/>
                </a:solidFill>
                <a:latin typeface="Aptos"/>
              </a:defRPr>
            </a:pPr>
            <a:r>
              <a:t>Click Predict Performance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502920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2953512"/>
            <a:ext cx="46268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563EB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383279"/>
            <a:ext cx="46268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75569"/>
                </a:solidFill>
                <a:latin typeface="Aptos"/>
              </a:defRPr>
            </a:pPr>
            <a:r>
              <a:t>Show predicted final grade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788920"/>
            <a:ext cx="502920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56248" y="2953512"/>
            <a:ext cx="46268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563EB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3383279"/>
            <a:ext cx="46268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75569"/>
                </a:solidFill>
                <a:latin typeface="Aptos"/>
              </a:defRPr>
            </a:pPr>
            <a:r>
              <a:t>Show performance category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206240"/>
            <a:ext cx="502920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2688" y="4370831"/>
            <a:ext cx="46268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563EB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4800600"/>
            <a:ext cx="46268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75569"/>
                </a:solidFill>
                <a:latin typeface="Aptos"/>
              </a:defRPr>
            </a:pPr>
            <a:r>
              <a:t>Show academic-support indicator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206240"/>
            <a:ext cx="502920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56248" y="4370831"/>
            <a:ext cx="46268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563EB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6248" y="4800600"/>
            <a:ext cx="46268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75569"/>
                </a:solidFill>
                <a:latin typeface="Aptos"/>
              </a:defRPr>
            </a:pPr>
            <a:r>
              <a:t>Explain important model features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65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ptos"/>
              </a:defRPr>
            </a:pPr>
            <a:r>
              <a:t>Conclusion &amp; Key Learnings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75569"/>
                </a:solidFill>
                <a:latin typeface="Aptos"/>
              </a:defRPr>
            </a:pPr>
            <a:r>
              <a:t>A complete Applied AI workflow, ready for local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F172A"/>
                </a:solidFill>
                <a:latin typeface="Aptos"/>
              </a:defRPr>
            </a:pPr>
            <a:r>
              <a:t>• Compared multiple regression models using standard, actual evaluation metrics.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F172A"/>
                </a:solidFill>
                <a:latin typeface="Aptos"/>
              </a:defRPr>
            </a:pPr>
            <a:r>
              <a:t>• Integrated the best model into a clear Streamlit application.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346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F172A"/>
                </a:solidFill>
                <a:latin typeface="Aptos"/>
              </a:defRPr>
            </a:pPr>
            <a:r>
              <a:t>• Made model drivers visible through feature-importance analysis.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520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F172A"/>
                </a:solidFill>
                <a:latin typeface="Aptos"/>
              </a:defRPr>
            </a:pPr>
            <a:r>
              <a:t>• Documented responsible use: support discussions, not definitive decisions.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1600200"/>
            <a:ext cx="3703320" cy="25146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44968" y="1764792"/>
            <a:ext cx="33009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563EB"/>
                </a:solidFill>
                <a:latin typeface="Aptos"/>
              </a:defRPr>
            </a:pPr>
            <a:r>
              <a:t>Future improvements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4968" y="2194560"/>
            <a:ext cx="330098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75569"/>
                </a:solidFill>
                <a:latin typeface="Aptos"/>
              </a:defRPr>
            </a:pPr>
            <a:r>
              <a:t>More representative data</a:t>
            </a:r>
            <a:br/>
            <a:r>
              <a:t>Fairness assessment</a:t>
            </a:r>
            <a:br/>
            <a:r>
              <a:t>Prediction uncertainty</a:t>
            </a:r>
            <a:br/>
            <a:r>
              <a:t>Educator feedback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2578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563EB"/>
                </a:solidFill>
                <a:latin typeface="Aptos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366</Words>
  <Application>Microsoft Office PowerPoint</Application>
  <PresentationFormat>Widescreen</PresentationFormat>
  <Paragraphs>105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Microsoft account</cp:lastModifiedBy>
  <cp:revision>3</cp:revision>
  <dcterms:created xsi:type="dcterms:W3CDTF">2013-01-27T09:14:16Z</dcterms:created>
  <dcterms:modified xsi:type="dcterms:W3CDTF">2026-10-14T07:26:55Z</dcterms:modified>
  <cp:category/>
</cp:coreProperties>
</file>